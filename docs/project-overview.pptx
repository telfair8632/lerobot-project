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Training loss</c:v>
                </c:pt>
              </c:strCache>
            </c:strRef>
          </c:tx>
          <c:spPr>
            <a:solidFill>
              <a:srgbClr val="2186C4"/>
            </a:solidFill>
            <a:ln w="38100" cap="flat">
              <a:solidFill>
                <a:srgbClr val="2186C4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2186C4"/>
              </a:solidFill>
              <a:ln w="9525" cap="flat">
                <a:solidFill>
                  <a:srgbClr val="2186C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3k</c:v>
                  </c:pt>
                  <c:pt idx="2">
                    <c:v>10k</c:v>
                  </c:pt>
                  <c:pt idx="3">
                    <c:v>20k</c:v>
                  </c:pt>
                  <c:pt idx="4">
                    <c:v>40k</c:v>
                  </c:pt>
                  <c:pt idx="5">
                    <c:v>50k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6.793</c:v>
                </c:pt>
                <c:pt idx="1">
                  <c:v>0.902</c:v>
                </c:pt>
                <c:pt idx="2">
                  <c:v>0.35</c:v>
                </c:pt>
                <c:pt idx="3">
                  <c:v>0.18</c:v>
                </c:pt>
                <c:pt idx="4">
                  <c:v>0.12</c:v>
                </c:pt>
                <c:pt idx="5">
                  <c:v>0.11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06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0606F"/>
                    </a:solidFill>
                    <a:latin typeface="Arial"/>
                  </a:rPr>
                  <a:t>training steps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06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"/>
          <c:min val="0"/>
        </c:scaling>
        <c:delete val="0"/>
        <c:axPos val="l"/>
        <c:majorGridlines>
          <c:spPr>
            <a:ln w="6350" cap="flat">
              <a:solidFill>
                <a:srgbClr val="E7ED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50606F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50606F"/>
                    </a:solidFill>
                    <a:latin typeface="Arial"/>
                  </a:rPr>
                  <a:t>loss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0606F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1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The episode/frame-count discrepancy is stated explicitly to avoid reading archival metadata as final experimental data.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Deployment observations come from the engineering journal; the distribution-shift / compounding-error explanation comes from the local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Contributions and the distribution-shift account come from the local engineering notes and reflection record; the reflection also proposes augmentation and DAgger-style expert labeling as correctives.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[Sources]
Source: this project's engineering journal, training configs, and reflection notes.
The roadmap comes from the project journal and reflection notes; the VLA direction is a next-stage plan, not a result achieved in this stage.
[/Sources]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" y="9525"/>
            <a:ext cx="6305550" cy="6838950"/>
          </a:xfrm>
          <a:prstGeom prst="roundRect">
            <a:avLst>
              <a:gd name="adj" fmla="val 1160"/>
            </a:avLst>
          </a:prstGeom>
          <a:solidFill>
            <a:srgbClr val="EEF3F5"/>
          </a:solidFill>
          <a:ln w="12700">
            <a:solidFill>
              <a:srgbClr val="EEF3F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324600" y="9525"/>
            <a:ext cx="5857875" cy="6838950"/>
          </a:xfrm>
          <a:prstGeom prst="roundRect">
            <a:avLst>
              <a:gd name="adj" fmla="val 1249"/>
            </a:avLst>
          </a:prstGeom>
          <a:solidFill>
            <a:srgbClr val="DCECF5"/>
          </a:solidFill>
          <a:ln w="12700">
            <a:solidFill>
              <a:srgbClr val="DCECF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52450" y="55245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LeRobot × SO-ARM101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2450" y="1238250"/>
            <a:ext cx="52395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Low Loss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Generalization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52450" y="2905125"/>
            <a:ext cx="50863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complete engineering loop of a robotic-arm behavior-cloning experiment — and its key finding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52450" y="3924300"/>
            <a:ext cx="4667250" cy="0"/>
          </a:xfrm>
          <a:prstGeom prst="line">
            <a:avLst/>
          </a:prstGeom>
          <a:noFill/>
          <a:ln w="19050">
            <a:solidFill>
              <a:srgbClr val="B9C6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52450" y="415290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overview | Data collection · Cloud training · Local deployment · Reflection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2450" y="5953125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2026.05–06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96100" y="66675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Behavior-cloning baseline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96100" y="1428750"/>
            <a:ext cx="3810000" cy="3667125"/>
          </a:xfrm>
          <a:prstGeom prst="roundRect">
            <a:avLst>
              <a:gd name="adj" fmla="val 19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296150" y="4333875"/>
            <a:ext cx="2876550" cy="0"/>
          </a:xfrm>
          <a:prstGeom prst="line">
            <a:avLst/>
          </a:prstGeom>
          <a:noFill/>
          <a:ln w="63500">
            <a:solidFill>
              <a:srgbClr val="1018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72375" y="4152900"/>
            <a:ext cx="666750" cy="0"/>
          </a:xfrm>
          <a:prstGeom prst="line">
            <a:avLst/>
          </a:prstGeom>
          <a:noFill/>
          <a:ln w="203200">
            <a:solidFill>
              <a:srgbClr val="2186C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91500" y="3524250"/>
            <a:ext cx="419100" cy="0"/>
          </a:xfrm>
          <a:prstGeom prst="line">
            <a:avLst/>
          </a:prstGeom>
          <a:noFill/>
          <a:ln w="177800">
            <a:solidFill>
              <a:srgbClr val="2186C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572500" y="3000375"/>
            <a:ext cx="838200" cy="0"/>
          </a:xfrm>
          <a:prstGeom prst="line">
            <a:avLst/>
          </a:prstGeom>
          <a:noFill/>
          <a:ln w="165100">
            <a:solidFill>
              <a:srgbClr val="2186C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334500" y="2667000"/>
            <a:ext cx="457200" cy="0"/>
          </a:xfrm>
          <a:prstGeom prst="line">
            <a:avLst/>
          </a:prstGeom>
          <a:noFill/>
          <a:ln w="139700">
            <a:solidFill>
              <a:srgbClr val="0C8C8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486650" y="4162425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D86B3A"/>
          </a:solidFill>
          <a:ln w="12700">
            <a:solidFill>
              <a:srgbClr val="D86B3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72450" y="3524250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D86B3A"/>
          </a:solidFill>
          <a:ln w="12700">
            <a:solidFill>
              <a:srgbClr val="D86B3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543925" y="3000375"/>
            <a:ext cx="228600" cy="228600"/>
          </a:xfrm>
          <a:prstGeom prst="roundRect">
            <a:avLst>
              <a:gd name="adj" fmla="val 20000"/>
            </a:avLst>
          </a:prstGeom>
          <a:solidFill>
            <a:srgbClr val="D86B3A"/>
          </a:solidFill>
          <a:ln w="12700">
            <a:solidFill>
              <a:srgbClr val="D86B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305925" y="2667000"/>
            <a:ext cx="209550" cy="209550"/>
          </a:xfrm>
          <a:prstGeom prst="roundRect">
            <a:avLst>
              <a:gd name="adj" fmla="val 21818"/>
            </a:avLst>
          </a:prstGeom>
          <a:solidFill>
            <a:srgbClr val="D86B3A"/>
          </a:solidFill>
          <a:ln w="12700">
            <a:solidFill>
              <a:srgbClr val="D86B3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15500" y="2495550"/>
            <a:ext cx="523875" cy="342900"/>
          </a:xfrm>
          <a:prstGeom prst="roundRect">
            <a:avLst>
              <a:gd name="adj" fmla="val 21333"/>
            </a:avLst>
          </a:prstGeom>
          <a:solidFill>
            <a:srgbClr val="101820"/>
          </a:solidFill>
          <a:ln w="12700">
            <a:solidFill>
              <a:srgbClr val="10182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82150" y="3095625"/>
            <a:ext cx="81915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896100" y="5476875"/>
            <a:ext cx="1066800" cy="292608"/>
          </a:xfrm>
          <a:prstGeom prst="roundRect">
            <a:avLst>
              <a:gd name="adj" fmla="val 25000"/>
            </a:avLst>
          </a:prstGeom>
          <a:solidFill>
            <a:srgbClr val="CAE7F6"/>
          </a:solidFill>
          <a:ln w="12700">
            <a:solidFill>
              <a:srgbClr val="CAE7F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96100" y="5536311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demos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096250" y="5476875"/>
            <a:ext cx="1066800" cy="292608"/>
          </a:xfrm>
          <a:prstGeom prst="roundRect">
            <a:avLst>
              <a:gd name="adj" fmla="val 25000"/>
            </a:avLst>
          </a:prstGeom>
          <a:solidFill>
            <a:srgbClr val="CBEFEA"/>
          </a:solidFill>
          <a:ln w="12700">
            <a:solidFill>
              <a:srgbClr val="CBEFE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96250" y="5536311"/>
            <a:ext cx="1066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50k steps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9296400" y="5476875"/>
            <a:ext cx="685800" cy="292608"/>
          </a:xfrm>
          <a:prstGeom prst="roundRect">
            <a:avLst>
              <a:gd name="adj" fmla="val 25000"/>
            </a:avLst>
          </a:prstGeom>
          <a:solidFill>
            <a:srgbClr val="F9DECF"/>
          </a:solidFill>
          <a:ln w="12700">
            <a:solidFill>
              <a:srgbClr val="F9DEC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296400" y="5536311"/>
            <a:ext cx="685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THESIS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loss is not the goal — generalization is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5300" y="1676400"/>
            <a:ext cx="838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built an end-to-end imitation-learning pipeline, then held “training convergence” up against real deployment.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95300" y="276225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6.793 → 0.110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495300" y="358521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loss, a 98.4% reduction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733800" y="276225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C8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733800" y="358521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demonstration episodes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686550" y="276225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D8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51.7M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6686550" y="358521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policy parameters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9286875" y="2457450"/>
            <a:ext cx="2305050" cy="2019300"/>
          </a:xfrm>
          <a:prstGeom prst="roundRect">
            <a:avLst>
              <a:gd name="adj" fmla="val 3623"/>
            </a:avLst>
          </a:prstGeom>
          <a:solidFill>
            <a:srgbClr val="FCECEB"/>
          </a:solidFill>
          <a:ln w="12700">
            <a:solidFill>
              <a:srgbClr val="FCEC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429750" y="2781300"/>
            <a:ext cx="20193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generalization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deployment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9429750" y="3714750"/>
            <a:ext cx="20193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arm kept reaching toward the most frequent grasp position in training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95300" y="5429250"/>
            <a:ext cx="111252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95300" y="5695950"/>
            <a:ext cx="1033462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conclusion: a low training loss proves the fit succeeded — by itself it does not prove the vision-to-action policy generalizes.</a:t>
            </a:r>
            <a:endParaRPr lang="en-US" sz="16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LOOP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human demonstration to robot action, end to end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2428875"/>
            <a:ext cx="2133600" cy="219075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5612" y="28575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05612" y="335280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Teleoperated collection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05612" y="381000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Leader → Follower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RGB video + joint states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667000" y="3505200"/>
            <a:ext cx="438150" cy="0"/>
          </a:xfrm>
          <a:prstGeom prst="line">
            <a:avLst/>
          </a:prstGeom>
          <a:noFill/>
          <a:ln w="31750">
            <a:solidFill>
              <a:srgbClr val="B9C6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2958846" y="3413760"/>
            <a:ext cx="164592" cy="182880"/>
          </a:xfrm>
          <a:prstGeom prst="triangle">
            <a:avLst/>
          </a:prstGeom>
          <a:solidFill>
            <a:srgbClr val="B9C6CE"/>
          </a:solidFill>
          <a:ln w="12700">
            <a:solidFill>
              <a:srgbClr val="B9C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76600" y="2428875"/>
            <a:ext cx="2133600" cy="219075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86912" y="28575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C8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3486912" y="335280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governance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3486912" y="381000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anomalous-episode cleanup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v2.1 → v3.0 conversion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48300" y="3505200"/>
            <a:ext cx="438150" cy="0"/>
          </a:xfrm>
          <a:prstGeom prst="line">
            <a:avLst/>
          </a:prstGeom>
          <a:noFill/>
          <a:ln w="31750">
            <a:solidFill>
              <a:srgbClr val="B9C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5740146" y="3413760"/>
            <a:ext cx="164592" cy="182880"/>
          </a:xfrm>
          <a:prstGeom prst="triangle">
            <a:avLst/>
          </a:prstGeom>
          <a:solidFill>
            <a:srgbClr val="B9C6CE"/>
          </a:solidFill>
          <a:ln w="12700">
            <a:solidFill>
              <a:srgbClr val="B9C6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57900" y="2428875"/>
            <a:ext cx="2133600" cy="219075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68212" y="28575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D8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268212" y="335280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training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6268212" y="381000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AutoDL RTX 4090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/ 50,000 steps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8229600" y="3505200"/>
            <a:ext cx="438150" cy="0"/>
          </a:xfrm>
          <a:prstGeom prst="line">
            <a:avLst/>
          </a:prstGeom>
          <a:noFill/>
          <a:ln w="31750">
            <a:solidFill>
              <a:srgbClr val="B9C6C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5400000">
            <a:off x="8521446" y="3413760"/>
            <a:ext cx="164592" cy="182880"/>
          </a:xfrm>
          <a:prstGeom prst="triangle">
            <a:avLst/>
          </a:prstGeom>
          <a:solidFill>
            <a:srgbClr val="B9C6CE"/>
          </a:solidFill>
          <a:ln w="12700">
            <a:solidFill>
              <a:srgbClr val="B9C6C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39200" y="2428875"/>
            <a:ext cx="2133600" cy="2190750"/>
          </a:xfrm>
          <a:prstGeom prst="roundRect">
            <a:avLst>
              <a:gd name="adj" fmla="val 3429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49512" y="2857500"/>
            <a:ext cx="685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9049512" y="3352800"/>
            <a:ext cx="167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deployment</a:t>
            </a:r>
            <a:endParaRPr lang="en-US" sz="1550" dirty="0"/>
          </a:p>
        </p:txBody>
      </p:sp>
      <p:sp>
        <p:nvSpPr>
          <p:cNvPr id="27" name="Text 25"/>
          <p:cNvSpPr/>
          <p:nvPr/>
        </p:nvSpPr>
        <p:spPr>
          <a:xfrm>
            <a:off x="9049512" y="3810000"/>
            <a:ext cx="167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RTX 3060 Ti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 + Follower execution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495300" y="5191125"/>
            <a:ext cx="10477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engineering work went far beyond the training script: 18 problems spanning hardware, versions, data formats, and offline environments were each diagnosed and solved.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let the model converge — and set its limits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1762125"/>
            <a:ext cx="4048125" cy="3476625"/>
          </a:xfrm>
          <a:prstGeom prst="roundRect">
            <a:avLst>
              <a:gd name="adj" fmla="val 2104"/>
            </a:avLst>
          </a:prstGeom>
          <a:solidFill>
            <a:srgbClr val="F2F8FB"/>
          </a:solidFill>
          <a:ln w="12700">
            <a:solidFill>
              <a:srgbClr val="F2F8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050" y="20193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Usable training data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1050" y="245745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81050" y="3280410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demonstrations (50 planned; 1 anomalous episode removed)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81050" y="382905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12,625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81050" y="465201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frames after v3.0 conversion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876800" y="1762125"/>
            <a:ext cx="6819900" cy="3476625"/>
          </a:xfrm>
          <a:prstGeom prst="roundRect">
            <a:avLst>
              <a:gd name="adj" fmla="val 2104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181600" y="201930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8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Observations &amp; actions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18160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81600" y="2857500"/>
            <a:ext cx="276225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front-view RGB 640×480 · 30 FPS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6-DoF arm joint state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96300" y="2514600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496300" y="2857500"/>
            <a:ext cx="2667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6-DoF actions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100-step action chunks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181600" y="3810000"/>
            <a:ext cx="607695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81600" y="4038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limitation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181600" y="4400550"/>
            <a:ext cx="576262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object type · limited position &amp; container variation · no language annotations.</a:t>
            </a:r>
            <a:endParaRPr lang="en-US" sz="1350" dirty="0"/>
          </a:p>
          <a:p>
            <a:pPr algn="l" indent="0" marL="0">
              <a:buNone/>
            </a:pPr>
            <a:r>
              <a:rPr lang="en-US" sz="13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gaps mapped directly into the generalization failure.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495300" y="5676900"/>
            <a:ext cx="10744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the raw ZIP preserves the pre-cleanup count of 50 episodes / 12,883 frames; experimental conclusions use the cleaned, converted set of 49 / 12,625.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&amp; TRAINING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encodes vision and arm state into action chunks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1905000"/>
            <a:ext cx="3143250" cy="2381250"/>
          </a:xfrm>
          <a:prstGeom prst="roundRect">
            <a:avLst>
              <a:gd name="adj" fmla="val 3072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0476" y="2286000"/>
            <a:ext cx="25241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encoding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0476" y="2857500"/>
            <a:ext cx="2524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ResNet-18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ImageNet-pretrained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60476" y="3733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95700" y="3048000"/>
            <a:ext cx="419100" cy="0"/>
          </a:xfrm>
          <a:prstGeom prst="line">
            <a:avLst/>
          </a:prstGeom>
          <a:noFill/>
          <a:ln w="31750">
            <a:solidFill>
              <a:srgbClr val="B9C6C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3968496" y="2956560"/>
            <a:ext cx="164592" cy="182880"/>
          </a:xfrm>
          <a:prstGeom prst="triangle">
            <a:avLst/>
          </a:prstGeom>
          <a:solidFill>
            <a:srgbClr val="B9C6CE"/>
          </a:solidFill>
          <a:ln w="12700">
            <a:solidFill>
              <a:srgbClr val="B9C6C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10050" y="1905000"/>
            <a:ext cx="3143250" cy="2381250"/>
          </a:xfrm>
          <a:prstGeom prst="roundRect">
            <a:avLst>
              <a:gd name="adj" fmla="val 3072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75226" y="2286000"/>
            <a:ext cx="25241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Temporal decision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75226" y="2857500"/>
            <a:ext cx="2524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Transformer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4-layer encoder / 1-layer decoder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75226" y="3733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C8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10450" y="3048000"/>
            <a:ext cx="419100" cy="0"/>
          </a:xfrm>
          <a:prstGeom prst="line">
            <a:avLst/>
          </a:prstGeom>
          <a:noFill/>
          <a:ln w="31750">
            <a:solidFill>
              <a:srgbClr val="B9C6C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7683246" y="2956560"/>
            <a:ext cx="164592" cy="182880"/>
          </a:xfrm>
          <a:prstGeom prst="triangle">
            <a:avLst/>
          </a:prstGeom>
          <a:solidFill>
            <a:srgbClr val="B9C6CE"/>
          </a:solidFill>
          <a:ln w="12700">
            <a:solidFill>
              <a:srgbClr val="B9C6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24800" y="1905000"/>
            <a:ext cx="3143250" cy="2381250"/>
          </a:xfrm>
          <a:prstGeom prst="roundRect">
            <a:avLst>
              <a:gd name="adj" fmla="val 3072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89976" y="2286000"/>
            <a:ext cx="252412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generation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189976" y="2857500"/>
            <a:ext cx="25241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VAE + 100-step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chunks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189976" y="373380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D8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95300" y="49149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5300" y="5143500"/>
            <a:ext cx="1737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setup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114550" y="5143500"/>
            <a:ext cx="89535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AdamW · lr 1e-5 · batch size 8 · dropout 0.1 · 50,000 steps · ~78 minutes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95300" y="5676900"/>
            <a:ext cx="1066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Capacity: 51,668,614 parameters (~207 MB FP32); ~6 GB of VRAM in practice — trained on a cloud RTX 4090, inferred on a local RTX 3060 Ti.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EVIDENCE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Smooth convergence — but not the finish line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graphicFrame>
        <p:nvGraphicFramePr>
          <p:cNvPr id="6" name="Chart 0" descr=""/>
          <p:cNvGraphicFramePr/>
          <p:nvPr/>
        </p:nvGraphicFramePr>
        <p:xfrm>
          <a:off x="495300" y="1762125"/>
          <a:ext cx="7143750" cy="3810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8191500" y="1905000"/>
            <a:ext cx="3048000" cy="1314450"/>
          </a:xfrm>
          <a:prstGeom prst="roundRect">
            <a:avLst>
              <a:gd name="adj" fmla="val 5565"/>
            </a:avLst>
          </a:prstGeom>
          <a:solidFill>
            <a:srgbClr val="E8F5FB"/>
          </a:solidFill>
          <a:ln w="12700">
            <a:solidFill>
              <a:srgbClr val="E8F5FB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477250" y="217170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98.4%</a:t>
            </a:r>
            <a:endParaRPr lang="en-US" sz="2700" dirty="0"/>
          </a:p>
        </p:txBody>
      </p:sp>
      <p:sp>
        <p:nvSpPr>
          <p:cNvPr id="9" name="Text 6"/>
          <p:cNvSpPr/>
          <p:nvPr/>
        </p:nvSpPr>
        <p:spPr>
          <a:xfrm>
            <a:off x="8477250" y="27432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loss reduction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8191500" y="3448050"/>
            <a:ext cx="3048000" cy="1666875"/>
          </a:xfrm>
          <a:prstGeom prst="roundRect">
            <a:avLst>
              <a:gd name="adj" fmla="val 4389"/>
            </a:avLst>
          </a:prstGeom>
          <a:solidFill>
            <a:srgbClr val="FCECEB"/>
          </a:solidFill>
          <a:ln w="12700">
            <a:solidFill>
              <a:srgbClr val="FCEC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477250" y="36957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is mandatory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8477250" y="4095750"/>
            <a:ext cx="249555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a real deployment can tell whether the model learned the rule — or a shortcut.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95300" y="5886450"/>
            <a:ext cx="10477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logs confirm 50,000 / 50,000 steps completed; the trailing network error came from the automatic push_to_hub upload failing and did not affect the checkpoint.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REAL-WORLD DEPLOYMENT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 actions, memorized answers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1762125"/>
            <a:ext cx="4648200" cy="3571875"/>
          </a:xfrm>
          <a:prstGeom prst="roundRect">
            <a:avLst>
              <a:gd name="adj" fmla="val 2048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050" y="203835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training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81050" y="2514600"/>
            <a:ext cx="3429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Orbbec Astra Pro Plus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position variation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Expert trajectories stay near “correct” states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81050" y="417195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distribution: fairly narrow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257800" y="3505200"/>
            <a:ext cx="1162050" cy="0"/>
          </a:xfrm>
          <a:prstGeom prst="line">
            <a:avLst/>
          </a:prstGeom>
          <a:noFill/>
          <a:ln w="31750">
            <a:solidFill>
              <a:srgbClr val="C6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5400000">
            <a:off x="6273546" y="3413760"/>
            <a:ext cx="164592" cy="182880"/>
          </a:xfrm>
          <a:prstGeom prst="triangle">
            <a:avLst/>
          </a:prstGeom>
          <a:solidFill>
            <a:srgbClr val="C64444"/>
          </a:solidFill>
          <a:ln w="12700">
            <a:solidFill>
              <a:srgbClr val="C644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43700" y="1762125"/>
            <a:ext cx="4648200" cy="3571875"/>
          </a:xfrm>
          <a:prstGeom prst="roundRect">
            <a:avLst>
              <a:gd name="adj" fmla="val 2048"/>
            </a:avLst>
          </a:prstGeom>
          <a:solidFill>
            <a:srgbClr val="FDF3F0"/>
          </a:solidFill>
          <a:ln w="12700">
            <a:solidFill>
              <a:srgbClr val="FDF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29450" y="203835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During inference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029450" y="2514600"/>
            <a:ext cx="352425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Side-view webcam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Object positions changed</a:t>
            </a:r>
            <a:endParaRPr lang="en-US" sz="15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5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errors enter unseen states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7029450" y="417195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distribution: shifted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95300" y="569595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behavior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286000" y="5695950"/>
            <a:ext cx="88011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Wherever the object was placed, the arm reached toward the most frequent grasp position from training — and kept repeating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FINDING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Overfitting can disguise itself as confident action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1952625"/>
            <a:ext cx="4953000" cy="3048000"/>
          </a:xfrm>
          <a:prstGeom prst="roundRect">
            <a:avLst>
              <a:gd name="adj" fmla="val 2400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050" y="226695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textbook picture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81050" y="2781300"/>
            <a:ext cx="3619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training loss,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worse test metrics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81050" y="3810000"/>
            <a:ext cx="3619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memorized samples and fails to generalize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705600" y="1952625"/>
            <a:ext cx="4991100" cy="3048000"/>
          </a:xfrm>
          <a:prstGeom prst="roundRect">
            <a:avLst>
              <a:gd name="adj" fmla="val 2400"/>
            </a:avLst>
          </a:prstGeom>
          <a:solidFill>
            <a:srgbClr val="FCECEB"/>
          </a:solidFill>
          <a:ln w="12700">
            <a:solidFill>
              <a:srgbClr val="FCEC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91350" y="226695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6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project showed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991350" y="2781300"/>
            <a:ext cx="40005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extremely low training loss,</a:t>
            </a:r>
            <a:endParaRPr lang="en-US" sz="2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yet a “fixed grasp” in the real scene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991350" y="3810000"/>
            <a:ext cx="4000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chose the cheapest prediction on the training set — not an understanding of the scene in front of it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581650" y="3429000"/>
            <a:ext cx="952500" cy="0"/>
          </a:xfrm>
          <a:prstGeom prst="line">
            <a:avLst/>
          </a:prstGeom>
          <a:noFill/>
          <a:ln w="31750">
            <a:solidFill>
              <a:srgbClr val="B9C6C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5400000">
            <a:off x="6387846" y="3337560"/>
            <a:ext cx="164592" cy="182880"/>
          </a:xfrm>
          <a:prstGeom prst="triangle">
            <a:avLst/>
          </a:prstGeom>
          <a:solidFill>
            <a:srgbClr val="B9C6CE"/>
          </a:solidFill>
          <a:ln w="12700">
            <a:solidFill>
              <a:srgbClr val="B9C6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5300" y="552450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C8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it matters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114550" y="5524500"/>
            <a:ext cx="919162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turns “low loss ≠ a reliable policy” from a theoretical claim into reproducible evidence from a real robot deployment.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ROOT-CAUSE ANALYSIS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joint mismatch across data, model, and deployment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1762125"/>
            <a:ext cx="10744200" cy="666750"/>
          </a:xfrm>
          <a:prstGeom prst="roundRect">
            <a:avLst>
              <a:gd name="adj" fmla="val 1097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2950" y="1981200"/>
            <a:ext cx="237744" cy="237744"/>
          </a:xfrm>
          <a:prstGeom prst="ellipse">
            <a:avLst/>
          </a:prstGeom>
          <a:solidFill>
            <a:srgbClr val="C64444"/>
          </a:solidFill>
          <a:ln w="12700">
            <a:solidFill>
              <a:srgbClr val="C6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23950" y="1914525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Insufficient data diversity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4143375" y="1943100"/>
            <a:ext cx="6667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object type, unsystematic position variation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95300" y="2638425"/>
            <a:ext cx="10744200" cy="666750"/>
          </a:xfrm>
          <a:prstGeom prst="roundRect">
            <a:avLst>
              <a:gd name="adj" fmla="val 1097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42950" y="2857500"/>
            <a:ext cx="237744" cy="237744"/>
          </a:xfrm>
          <a:prstGeom prst="ellipse">
            <a:avLst/>
          </a:prstGeom>
          <a:solidFill>
            <a:srgbClr val="D86B3A"/>
          </a:solidFill>
          <a:ln w="12700">
            <a:solidFill>
              <a:srgbClr val="D86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23950" y="2790825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Model–data scale mismatch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4143375" y="2819400"/>
            <a:ext cx="6667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51.7M parameters facing ~12.6k frames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95300" y="3514725"/>
            <a:ext cx="10744200" cy="666750"/>
          </a:xfrm>
          <a:prstGeom prst="roundRect">
            <a:avLst>
              <a:gd name="adj" fmla="val 1097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2950" y="3733800"/>
            <a:ext cx="237744" cy="237744"/>
          </a:xfrm>
          <a:prstGeom prst="ellipse">
            <a:avLst/>
          </a:prstGeom>
          <a:solidFill>
            <a:srgbClr val="0C8C84"/>
          </a:solidFill>
          <a:ln w="12700">
            <a:solidFill>
              <a:srgbClr val="0C8C8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23950" y="3667125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task intent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4143375" y="3695700"/>
            <a:ext cx="6667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pure vision → action, no language conditioning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95300" y="4391025"/>
            <a:ext cx="10744200" cy="666750"/>
          </a:xfrm>
          <a:prstGeom prst="roundRect">
            <a:avLst>
              <a:gd name="adj" fmla="val 10971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42950" y="4610100"/>
            <a:ext cx="237744" cy="237744"/>
          </a:xfrm>
          <a:prstGeom prst="ellipse">
            <a:avLst/>
          </a:prstGeom>
          <a:solidFill>
            <a:srgbClr val="2186C4"/>
          </a:solidFill>
          <a:ln w="12700">
            <a:solidFill>
              <a:srgbClr val="2186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23950" y="4543425"/>
            <a:ext cx="28575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/ inference vision mismatch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4143375" y="4572000"/>
            <a:ext cx="66675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overhead Astra vs. side-view webcam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95300" y="5524500"/>
            <a:ext cx="10477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Reflection: errors compound in sequential decision-making — one small deviation can carry the arm into states the expert demonstrations never covered.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5300" y="342900"/>
            <a:ext cx="6858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495300" y="685800"/>
            <a:ext cx="1083945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Turning this failure into the VLA experimental design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858500" y="381000"/>
            <a:ext cx="85725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10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495300" y="1371600"/>
            <a:ext cx="11201400" cy="0"/>
          </a:xfrm>
          <a:prstGeom prst="line">
            <a:avLst/>
          </a:prstGeom>
          <a:noFill/>
          <a:ln w="12700">
            <a:solidFill>
              <a:srgbClr val="B9C6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95300" y="1885950"/>
            <a:ext cx="3276600" cy="3143250"/>
          </a:xfrm>
          <a:prstGeom prst="roundRect">
            <a:avLst>
              <a:gd name="adj" fmla="val 2327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2188" y="2247900"/>
            <a:ext cx="2857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A robust baseline first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2188" y="27051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186C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2188" y="3048000"/>
            <a:ext cx="281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≥ 5 objects × 6 initial positions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camera for training and inference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whether diversity alone fixes generalization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210050" y="1885950"/>
            <a:ext cx="3276600" cy="3143250"/>
          </a:xfrm>
          <a:prstGeom prst="roundRect">
            <a:avLst>
              <a:gd name="adj" fmla="val 2327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56938" y="2247900"/>
            <a:ext cx="2857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· Close the loop on data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456938" y="27051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C8C8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456938" y="3048000"/>
            <a:ext cx="281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Perturbations and augmentation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 the policy run, collect off-track states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expert corrections, DAgger-style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924800" y="1885950"/>
            <a:ext cx="3276600" cy="3143250"/>
          </a:xfrm>
          <a:prstGeom prst="roundRect">
            <a:avLst>
              <a:gd name="adj" fmla="val 2327"/>
            </a:avLst>
          </a:prstGeom>
          <a:solidFill>
            <a:srgbClr val="F7FAFB"/>
          </a:solidFill>
          <a:ln w="12700">
            <a:solidFill>
              <a:srgbClr val="F7FAF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71688" y="2247900"/>
            <a:ext cx="28575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· Bring in task intent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171688" y="270510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D8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171688" y="3048000"/>
            <a:ext cx="2819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language instruction bound to every episode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+ CLIP text encoder, or fine-tune a VLA</a:t>
            </a:r>
            <a:endParaRPr lang="en-US" sz="1250" dirty="0"/>
          </a:p>
          <a:p>
            <a:pPr marL="127000" indent="-127000">
              <a:spcAft>
                <a:spcPts val="600"/>
              </a:spcAft>
              <a:buSzPct val="100000"/>
              <a:buChar char="–"/>
            </a:pPr>
            <a:r>
              <a:rPr lang="en-US" sz="1250" dirty="0">
                <a:solidFill>
                  <a:srgbClr val="5060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“Which one to grasp” no longer depends on position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95300" y="5600700"/>
            <a:ext cx="1066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018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end goal is not a smaller loss — it is an arm that still completes the task when facing new objects, new positions, and natural-language instructions.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LeRobot x SO-ARM101 — From Low Loss to Generalization</dc:title>
  <dc:subject>PptxGenJS Presentation</dc:subject>
  <dc:creator>Sun Haonan</dc:creator>
  <cp:lastModifiedBy>Sun Haonan</cp:lastModifiedBy>
  <cp:revision>1</cp:revision>
  <dcterms:created xsi:type="dcterms:W3CDTF">2026-10-14T13:00:51Z</dcterms:created>
  <dcterms:modified xsi:type="dcterms:W3CDTF">2026-10-14T13:00:51Z</dcterms:modified>
</cp:coreProperties>
</file>